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66" r:id="rId3"/>
    <p:sldId id="267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429" y="5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1909D-5AC5-42D2-966E-6F8332A4AD11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47771-7373-4992-9D78-6936E2752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28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6707-2E56-78FB-D7A6-78A399DAD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A9AFD-D385-0C35-1238-79AAA6736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01275-7E82-A74C-DCA4-F98B51E80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A702A-FD28-8A0C-5BA1-F7DEB01D2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216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045E0-AF9C-AA73-F422-4EBF801C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28F4B-5BE3-8343-1FBD-722DCCC24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0498B-235C-0AEB-458A-FC1D56840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B83EC-356F-7C02-4AFF-51867462E3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07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F5B6-A084-2372-6067-DD64B9E83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EC36D-14CB-20A7-1142-10B2022E2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FD0ED-A11D-EE51-81B9-90493B7F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293A-7EC8-A577-BEF1-C56A443B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13C-0B8C-B29B-5AC4-EB85478E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19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255A-6160-C48D-BD1E-4BBD5A7E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29319-DDAC-0A07-A246-54DB919FA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A0ED-8530-5D9B-7186-EEF84AFC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A1D59-3FD0-BCD1-7A70-B6C746BE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135B2-1D72-5725-EA8D-252B5898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86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5BD3-663C-001D-A032-876A0B7D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F9243-B5F6-204B-2298-AA6A45688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56ED-5FD1-C0F3-15BA-98970D96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A6E04-1B1E-C0E8-D843-FD7AAC14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C9B0B-13F7-C7A3-BE45-D4F510D9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82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3C43-F424-762A-A5CF-4EC012E1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E92E-C499-6997-D1C6-8935C718C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772CA-2F47-9A4A-27C4-C559D2933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DF2C8-6D80-5F50-05F2-521DAB229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BBECF-8937-8038-8BB0-B908F7C8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A06B7-2026-0A5B-03CE-CB8119D2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33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DEC8-5148-8235-4B04-471497434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E2D6C-FA91-8026-244A-7CD389C1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0AB8E-DEB4-A301-035D-C026D5F2A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9127F-F6DB-7243-1A72-6E8CF7B44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3D154-A493-444E-CA27-D560E7416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E8B46-EAE9-126A-B209-418C7214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CA9D96-CA90-338D-1F07-1F13CB13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76288-B525-C241-F829-168A9F94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980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8CC7-8170-2DC0-2EFD-F05E2231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94199-ABAA-1CF5-E60D-0763201A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8B059-9F4A-570D-6ED2-F61510DB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F772B-17AA-0CEB-E559-2E7B1FCD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98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C4FE4-059C-2AEE-77F6-AE323838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F979B-1C2F-B05D-ED43-EDD9AA07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5A99F-B94C-6628-5CF8-6B83D1B1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34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3465-9FAD-2069-3DD3-3D8458B4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4562B-26F9-7BEE-A561-539015CD2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FA463-BED9-87C3-2C89-60B451865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83EF9-CD6C-170B-707D-B1A5D221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86145-0A61-FAF9-2415-F1EF484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A2BCA-D206-393D-DE16-5B8AEF86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82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0C49-5C64-B290-6AB3-2BA95964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5AD49-B0E1-D7FC-5CB2-93142465A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B076D-1B3E-9A19-F6C0-3B8489026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3C0A0-3540-356B-D7AE-F51AE262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15CD3-5C01-44CE-1B64-1D373FDE5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97722-2058-1815-E9DE-0F7ED1DC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45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E021A-2623-3079-94DF-E85A1C6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B2F10-2039-E7FC-83B9-C73DE896A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A6FA8-DBF3-CB78-8F34-BBA171AF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63C7A-DF0A-0DFC-C13F-850ACE207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4362A-1DD9-4FC6-3E42-001B6C80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92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7AE91-6B29-DC2F-01CB-8864EB128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DF8B7-D622-0274-8F50-6530FDA86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4CBCE-9904-A603-22FA-8819C3872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60568-992C-1725-7714-62DE8E7E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73CB-A135-2F28-00C5-01DD2596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814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676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67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35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42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85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89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87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4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0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71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2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FC6742-9E5F-9628-34A7-A99C8FEB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922E2-82D6-A511-4774-CE5FF9FAA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220AE-5815-5F0F-2B53-D4CE04C1A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1488-F0AC-49BA-B27C-29FF8C90F6C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934BA-2324-5063-5DAD-54ADCECA4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BDE9F-894F-4822-84EF-74FE3A8D1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0608B-2281-4EBF-B41B-6FF35173C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6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193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3A88-FAF6-9170-FA0D-E389AC71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2B7254-75D2-1A4B-61F5-3A74A4AE20C9}"/>
              </a:ext>
            </a:extLst>
          </p:cNvPr>
          <p:cNvSpPr/>
          <p:nvPr/>
        </p:nvSpPr>
        <p:spPr>
          <a:xfrm>
            <a:off x="431502" y="339031"/>
            <a:ext cx="8268762" cy="340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250"/>
              </a:lnSpc>
            </a:pPr>
            <a:r>
              <a:rPr lang="en-US" sz="1792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 Acquisition &amp; Benchmarking Methodology. Hybrid Scraping Approach.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8C496A-6E7B-AD45-9443-8B223B82058A}"/>
              </a:ext>
            </a:extLst>
          </p:cNvPr>
          <p:cNvSpPr/>
          <p:nvPr/>
        </p:nvSpPr>
        <p:spPr>
          <a:xfrm>
            <a:off x="431503" y="1486678"/>
            <a:ext cx="4324648" cy="872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Option 1:</a:t>
            </a:r>
            <a:r>
              <a:rPr lang="ru-RU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Request-Based Extraction (Direct)</a:t>
            </a:r>
            <a:endParaRPr lang="ru-RU" sz="1167" b="1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Demonstrates the ability to retrieve data efficiently by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simulating HTTP requests and handling structured responses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without overhead libraries.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E5B367-975A-8089-2C3F-D4D390CF9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400" y="875800"/>
            <a:ext cx="7272266" cy="990752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ACC9D879-EAFA-D8CE-8174-70068134F9D7}"/>
              </a:ext>
            </a:extLst>
          </p:cNvPr>
          <p:cNvSpPr/>
          <p:nvPr/>
        </p:nvSpPr>
        <p:spPr>
          <a:xfrm>
            <a:off x="431503" y="2565146"/>
            <a:ext cx="4369098" cy="83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</a:rPr>
              <a:t>Option 2:</a:t>
            </a:r>
            <a:r>
              <a:rPr lang="ru-RU" sz="1167" b="1" dirty="0">
                <a:solidFill>
                  <a:srgbClr val="2B3541"/>
                </a:solidFill>
                <a:latin typeface="Funnel Sans" pitchFamily="34" charset="0"/>
              </a:rPr>
              <a:t> 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</a:rPr>
              <a:t>HTML Parsing via </a:t>
            </a:r>
            <a:r>
              <a:rPr lang="en-US" sz="1167" b="1" dirty="0" err="1">
                <a:solidFill>
                  <a:srgbClr val="2B3541"/>
                </a:solidFill>
                <a:latin typeface="Funnel Sans" pitchFamily="34" charset="0"/>
              </a:rPr>
              <a:t>BeautifulSoup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</a:rPr>
              <a:t>:</a:t>
            </a: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Showcases proficiency in navigating and extracting data </a:t>
            </a:r>
            <a:endParaRPr lang="ru-RU" sz="1167" dirty="0">
              <a:solidFill>
                <a:srgbClr val="2B3541"/>
              </a:solidFill>
              <a:latin typeface="Funnel Sans" pitchFamily="34" charset="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from complex DOM structures, ensuring flexibility when </a:t>
            </a:r>
            <a:endParaRPr lang="ru-RU" sz="1167" dirty="0">
              <a:solidFill>
                <a:srgbClr val="2B3541"/>
              </a:solidFill>
              <a:latin typeface="Funnel Sans" pitchFamily="34" charset="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direct data access is restricted.</a:t>
            </a:r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47C0777-1186-0D6F-01F6-2737AD596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400" y="1897144"/>
            <a:ext cx="5003800" cy="3459663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7B96824B-4AB3-1615-4996-39BD7E2FBDC8}"/>
              </a:ext>
            </a:extLst>
          </p:cNvPr>
          <p:cNvSpPr/>
          <p:nvPr/>
        </p:nvSpPr>
        <p:spPr>
          <a:xfrm>
            <a:off x="431503" y="4129712"/>
            <a:ext cx="4184948" cy="1184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</a:rPr>
              <a:t>Data Estimation for Other Channels:</a:t>
            </a:r>
          </a:p>
          <a:p>
            <a:pPr marL="142869" indent="-142869" defTabSz="761970">
              <a:lnSpc>
                <a:spcPts val="1542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The project covers 6 marketing channels.</a:t>
            </a:r>
          </a:p>
          <a:p>
            <a:pPr marL="142869" indent="-142869" defTabSz="761970">
              <a:lnSpc>
                <a:spcPts val="1542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For channels with missing public data, benchmarks were </a:t>
            </a:r>
            <a:endParaRPr lang="ru-RU" sz="1167" dirty="0">
              <a:solidFill>
                <a:srgbClr val="2B3541"/>
              </a:solidFill>
              <a:latin typeface="Funnel Sans" pitchFamily="34" charset="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calculated by averaging metrics within each consumer </a:t>
            </a:r>
            <a:endParaRPr lang="ru-RU" sz="1167" dirty="0">
              <a:solidFill>
                <a:srgbClr val="2B3541"/>
              </a:solidFill>
              <a:latin typeface="Funnel Sans" pitchFamily="34" charset="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category, ensuring a consistent baseline for the </a:t>
            </a:r>
            <a:endParaRPr lang="ru-RU" sz="1167" dirty="0">
              <a:solidFill>
                <a:srgbClr val="2B3541"/>
              </a:solidFill>
              <a:latin typeface="Funnel Sans" pitchFamily="34" charset="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entire $2.50 Billion portfolio.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B4E59B5-E288-08EE-3A2F-5C987485DE73}"/>
              </a:ext>
            </a:extLst>
          </p:cNvPr>
          <p:cNvSpPr/>
          <p:nvPr/>
        </p:nvSpPr>
        <p:spPr>
          <a:xfrm>
            <a:off x="431503" y="5773568"/>
            <a:ext cx="3822998" cy="81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/>
            <a:r>
              <a:rPr lang="en-US" sz="1167" b="1" dirty="0">
                <a:solidFill>
                  <a:srgbClr val="2B3541"/>
                </a:solidFill>
                <a:latin typeface="Funnel Sans" pitchFamily="34" charset="0"/>
              </a:rPr>
              <a:t>Outcome:</a:t>
            </a:r>
          </a:p>
          <a:p>
            <a:pPr defTabSz="761970"/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A comprehensive, verified dataset that bridges the gap </a:t>
            </a:r>
            <a:endParaRPr lang="ru-RU" sz="1167" dirty="0">
              <a:solidFill>
                <a:srgbClr val="2B3541"/>
              </a:solidFill>
              <a:latin typeface="Funnel Sans" pitchFamily="34" charset="0"/>
            </a:endParaRPr>
          </a:p>
          <a:p>
            <a:pPr defTabSz="761970"/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between internal performance and market standards, </a:t>
            </a:r>
            <a:endParaRPr lang="ru-RU" sz="1167" dirty="0">
              <a:solidFill>
                <a:srgbClr val="2B3541"/>
              </a:solidFill>
              <a:latin typeface="Funnel Sans" pitchFamily="34" charset="0"/>
            </a:endParaRPr>
          </a:p>
          <a:p>
            <a:pPr defTabSz="761970"/>
            <a:r>
              <a:rPr lang="en-US" sz="1167" dirty="0">
                <a:solidFill>
                  <a:srgbClr val="2B3541"/>
                </a:solidFill>
                <a:latin typeface="Funnel Sans" pitchFamily="34" charset="0"/>
              </a:rPr>
              <a:t>ready for analysis in Excel and ML.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68D7B1-6575-9BB0-162B-E3EDDF8C6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1402" y="5415310"/>
            <a:ext cx="4598528" cy="1373977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F38372-C96A-23A3-4E02-8CE8963EC7A9}"/>
              </a:ext>
            </a:extLst>
          </p:cNvPr>
          <p:cNvSpPr/>
          <p:nvPr/>
        </p:nvSpPr>
        <p:spPr>
          <a:xfrm>
            <a:off x="8870476" y="5387399"/>
            <a:ext cx="588526" cy="1401888"/>
          </a:xfrm>
          <a:prstGeom prst="roundRect">
            <a:avLst/>
          </a:prstGeom>
          <a:noFill/>
          <a:ln w="57150">
            <a:solidFill>
              <a:srgbClr val="8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/>
            <a:endParaRPr lang="ru-RU" sz="15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94EFE4-49E2-3423-9AAB-288A8978D2FA}"/>
              </a:ext>
            </a:extLst>
          </p:cNvPr>
          <p:cNvCxnSpPr/>
          <p:nvPr/>
        </p:nvCxnSpPr>
        <p:spPr>
          <a:xfrm flipH="1" flipV="1">
            <a:off x="9487153" y="5522108"/>
            <a:ext cx="479404" cy="250925"/>
          </a:xfrm>
          <a:prstGeom prst="straightConnector1">
            <a:avLst/>
          </a:prstGeom>
          <a:ln>
            <a:solidFill>
              <a:srgbClr val="82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DB8C4E-1522-5D61-47E1-266A42E0FB51}"/>
              </a:ext>
            </a:extLst>
          </p:cNvPr>
          <p:cNvSpPr txBox="1"/>
          <p:nvPr/>
        </p:nvSpPr>
        <p:spPr>
          <a:xfrm>
            <a:off x="9966557" y="5705553"/>
            <a:ext cx="1100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0"/>
            <a:r>
              <a:rPr lang="en-US" sz="1000" dirty="0">
                <a:solidFill>
                  <a:srgbClr val="2B3541"/>
                </a:solidFill>
                <a:latin typeface="Funnel Sans" pitchFamily="34" charset="0"/>
              </a:rPr>
              <a:t>New data</a:t>
            </a:r>
          </a:p>
          <a:p>
            <a:pPr defTabSz="761970"/>
            <a:r>
              <a:rPr lang="en-US" sz="1000" dirty="0">
                <a:solidFill>
                  <a:srgbClr val="2B3541"/>
                </a:solidFill>
                <a:latin typeface="Funnel Sans" pitchFamily="34" charset="0"/>
              </a:rPr>
              <a:t>(benchmarks)</a:t>
            </a:r>
            <a:endParaRPr lang="ru-RU" sz="1000" dirty="0">
              <a:solidFill>
                <a:srgbClr val="2B3541"/>
              </a:solidFill>
              <a:latin typeface="Calibri" panose="020F0502020204030204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931A160A-386E-EEBB-BE58-415B050A22A3}"/>
              </a:ext>
            </a:extLst>
          </p:cNvPr>
          <p:cNvSpPr/>
          <p:nvPr/>
        </p:nvSpPr>
        <p:spPr>
          <a:xfrm>
            <a:off x="684947" y="1096286"/>
            <a:ext cx="3140373" cy="76200"/>
          </a:xfrm>
          <a:prstGeom prst="roundRect">
            <a:avLst>
              <a:gd name="adj" fmla="val 92271"/>
            </a:avLst>
          </a:prstGeom>
          <a:solidFill>
            <a:srgbClr val="3371A5"/>
          </a:solidFill>
          <a:ln/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676FD8C7-BB79-AD1B-B4D6-80AE54FDDADB}"/>
              </a:ext>
            </a:extLst>
          </p:cNvPr>
          <p:cNvSpPr/>
          <p:nvPr/>
        </p:nvSpPr>
        <p:spPr>
          <a:xfrm>
            <a:off x="2004010" y="864313"/>
            <a:ext cx="502146" cy="502146"/>
          </a:xfrm>
          <a:prstGeom prst="roundRect">
            <a:avLst>
              <a:gd name="adj" fmla="val 151749"/>
            </a:avLst>
          </a:prstGeom>
          <a:solidFill>
            <a:srgbClr val="3371A5"/>
          </a:solidFill>
          <a:ln/>
        </p:spPr>
        <p:txBody>
          <a:bodyPr/>
          <a:lstStyle/>
          <a:p>
            <a:pPr algn="ctr" defTabSz="761970"/>
            <a:r>
              <a:rPr lang="ru-RU" sz="1667" b="1" dirty="0">
                <a:solidFill>
                  <a:prstClr val="white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5902E29F-A676-AFCF-5168-F32BC4BCA5BB}"/>
              </a:ext>
            </a:extLst>
          </p:cNvPr>
          <p:cNvSpPr/>
          <p:nvPr/>
        </p:nvSpPr>
        <p:spPr>
          <a:xfrm>
            <a:off x="684947" y="3745936"/>
            <a:ext cx="3140373" cy="76200"/>
          </a:xfrm>
          <a:prstGeom prst="roundRect">
            <a:avLst>
              <a:gd name="adj" fmla="val 92271"/>
            </a:avLst>
          </a:prstGeom>
          <a:solidFill>
            <a:srgbClr val="3371A5"/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F77E0E0A-4993-03FF-BFCD-62EC30871A61}"/>
              </a:ext>
            </a:extLst>
          </p:cNvPr>
          <p:cNvSpPr/>
          <p:nvPr/>
        </p:nvSpPr>
        <p:spPr>
          <a:xfrm>
            <a:off x="2004010" y="3513963"/>
            <a:ext cx="502146" cy="502146"/>
          </a:xfrm>
          <a:prstGeom prst="roundRect">
            <a:avLst>
              <a:gd name="adj" fmla="val 151749"/>
            </a:avLst>
          </a:prstGeom>
          <a:solidFill>
            <a:srgbClr val="3371A5"/>
          </a:solidFill>
          <a:ln/>
        </p:spPr>
        <p:txBody>
          <a:bodyPr/>
          <a:lstStyle/>
          <a:p>
            <a:pPr algn="ctr" defTabSz="761970"/>
            <a:r>
              <a:rPr lang="ru-RU" sz="1667" b="1" dirty="0">
                <a:solidFill>
                  <a:prstClr val="white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6846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92CCD-5545-41D5-A712-0F8365D8C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3CA387-AD3C-5BB4-AEF2-3C142E90E954}"/>
              </a:ext>
            </a:extLst>
          </p:cNvPr>
          <p:cNvSpPr/>
          <p:nvPr/>
        </p:nvSpPr>
        <p:spPr>
          <a:xfrm>
            <a:off x="444500" y="349250"/>
            <a:ext cx="7244080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333"/>
              </a:lnSpc>
            </a:pPr>
            <a:r>
              <a:rPr lang="en-US" sz="1875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Connecting the Dots: From Granular Data to Executive Insights</a:t>
            </a:r>
            <a:endParaRPr lang="en-US" sz="187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95162DBF-139B-D3E4-F3B5-16BD3ABE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683" y="843280"/>
            <a:ext cx="7841205" cy="549656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D8354AD8-4C8C-63EE-E291-E3EC4E49F8E4}"/>
              </a:ext>
            </a:extLst>
          </p:cNvPr>
          <p:cNvSpPr/>
          <p:nvPr/>
        </p:nvSpPr>
        <p:spPr>
          <a:xfrm>
            <a:off x="431504" y="938038"/>
            <a:ext cx="3754403" cy="113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Big Picture: </a:t>
            </a:r>
            <a:endParaRPr lang="ru-RU" sz="1167" b="1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dashboard consolidates 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1.1 Billion impressions</a:t>
            </a: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into a single, real-time view, allowing for immediate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performance assessment across the entire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$2.50B portfolio</a:t>
            </a: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1B77010-0A20-5298-3EF0-4C4F048CA6BC}"/>
              </a:ext>
            </a:extLst>
          </p:cNvPr>
          <p:cNvSpPr/>
          <p:nvPr/>
        </p:nvSpPr>
        <p:spPr>
          <a:xfrm>
            <a:off x="431502" y="2481811"/>
            <a:ext cx="3754405" cy="102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Performance vs. Context: </a:t>
            </a:r>
            <a:endParaRPr lang="ru-RU" sz="1167" b="1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By integrating the scraped benchmarks directly into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visual interface, we can see that while 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Facebook</a:t>
            </a: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leads in 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ROI (501.87%)</a:t>
            </a: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Google Ads </a:t>
            </a: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remains the most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consistent over-performer relative to market standards.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B8B2F24-969E-A562-A13A-EC2BA3A9C160}"/>
              </a:ext>
            </a:extLst>
          </p:cNvPr>
          <p:cNvSpPr/>
          <p:nvPr/>
        </p:nvSpPr>
        <p:spPr>
          <a:xfrm>
            <a:off x="427559" y="3916135"/>
            <a:ext cx="3754403" cy="872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Strategic Stability: </a:t>
            </a: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dashboard highlights a remarkably stable 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CTR </a:t>
            </a:r>
            <a:endParaRPr lang="ru-RU" sz="1167" b="1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 ~14%</a:t>
            </a: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confirming that our audience targeting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remains effective throughout the fiscal year.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E0C4C44B-61B9-F83E-329F-EA6EB36CB312}"/>
              </a:ext>
            </a:extLst>
          </p:cNvPr>
          <p:cNvSpPr/>
          <p:nvPr/>
        </p:nvSpPr>
        <p:spPr>
          <a:xfrm>
            <a:off x="427559" y="5197522"/>
            <a:ext cx="3812838" cy="1096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Actionable Intelligence: </a:t>
            </a: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unified view allows us to spot the </a:t>
            </a: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"Conversion Gap" in channels like </a:t>
            </a: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Instagram and </a:t>
            </a:r>
            <a:endParaRPr lang="ru-RU" sz="1167" b="1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YouTube</a:t>
            </a: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directing our focus toward landing page </a:t>
            </a:r>
            <a:endParaRPr lang="ru-RU" sz="1167" dirty="0">
              <a:solidFill>
                <a:srgbClr val="2B354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defTabSz="761970">
              <a:lnSpc>
                <a:spcPts val="1542"/>
              </a:lnSpc>
            </a:pPr>
            <a:r>
              <a:rPr lang="en-US" sz="116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optimization to match Facebook's efficiency.</a:t>
            </a:r>
          </a:p>
        </p:txBody>
      </p:sp>
    </p:spTree>
    <p:extLst>
      <p:ext uri="{BB962C8B-B14F-4D97-AF65-F5344CB8AC3E}">
        <p14:creationId xmlns:p14="http://schemas.microsoft.com/office/powerpoint/2010/main" val="3875372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283</Words>
  <Application>Microsoft Office PowerPoint</Application>
  <PresentationFormat>Widescreen</PresentationFormat>
  <Paragraphs>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Funnel Display</vt:lpstr>
      <vt:lpstr>Funnel Sans</vt:lpstr>
      <vt:lpstr>Office Theme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 Sokoloverova</dc:creator>
  <cp:lastModifiedBy>Kira Sokoloverova</cp:lastModifiedBy>
  <cp:revision>1</cp:revision>
  <dcterms:created xsi:type="dcterms:W3CDTF">2026-01-03T15:58:37Z</dcterms:created>
  <dcterms:modified xsi:type="dcterms:W3CDTF">2026-01-03T15:59:38Z</dcterms:modified>
</cp:coreProperties>
</file>